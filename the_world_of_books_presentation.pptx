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480000">
            <a:off x="7040880" y="2377440"/>
            <a:ext cx="3108960" cy="2103120"/>
          </a:xfrm>
          <a:prstGeom prst="roundRect">
            <a:avLst/>
          </a:prstGeom>
          <a:solidFill>
            <a:srgbClr val="24324D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10149840" y="2377440"/>
            <a:ext cx="3108960" cy="2103120"/>
          </a:xfrm>
          <a:prstGeom prst="roundRect">
            <a:avLst/>
          </a:prstGeom>
          <a:solidFill>
            <a:srgbClr val="24324D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2903220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2903220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3218688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3218688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3534156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0" y="3534156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3849624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0" y="3849624"/>
            <a:ext cx="2423160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67544" y="2468880"/>
            <a:ext cx="164592" cy="100584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10067544" y="3383280"/>
            <a:ext cx="164592" cy="146304"/>
          </a:xfrm>
          <a:prstGeom prst="triangl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91440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A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325880"/>
            <a:ext cx="7132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5F0E6"/>
                </a:solidFill>
                <a:latin typeface="Georgia"/>
              </a:rPr>
              <a:t>The World</a:t>
            </a:r>
          </a:p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E8B44C"/>
                </a:solidFill>
                <a:latin typeface="Georgia"/>
              </a:rPr>
              <a:t>of 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004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B9C4D6"/>
                </a:solidFill>
                <a:latin typeface="Georgia"/>
              </a:rPr>
              <a:t>Knowledge, imagination, and empathy — bound between two covers.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6309360" cy="1524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F5F0E6"/>
                </a:solidFill>
                <a:latin typeface="Georgia"/>
              </a:rPr>
              <a:t>“A room without books is like a body without a soul.” — Cicero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Georgia"/>
              </a:rPr>
              <a:t>CHAPTER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0E6"/>
                </a:solidFill>
                <a:latin typeface="Georgia"/>
              </a:rPr>
              <a:t>A Brief History of 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926080" cy="254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794760"/>
            <a:ext cx="10515600" cy="3175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6108" y="3721608"/>
            <a:ext cx="146304" cy="146304"/>
          </a:xfrm>
          <a:prstGeom prst="ellips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752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E8B44C"/>
                </a:solidFill>
                <a:latin typeface="Georgia"/>
              </a:rPr>
              <a:t>~3300 BC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Clay tablets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B9C4D6"/>
                </a:solidFill>
                <a:latin typeface="Georgia"/>
              </a:rPr>
              <a:t>Cuneiform writing in Mesopotamia — the first 'pages'.</a:t>
            </a:r>
          </a:p>
        </p:txBody>
      </p:sp>
      <p:sp>
        <p:nvSpPr>
          <p:cNvPr id="10" name="Oval 9"/>
          <p:cNvSpPr/>
          <p:nvPr/>
        </p:nvSpPr>
        <p:spPr>
          <a:xfrm>
            <a:off x="3378708" y="3721608"/>
            <a:ext cx="146304" cy="146304"/>
          </a:xfrm>
          <a:prstGeom prst="ellips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5560" y="4114800"/>
            <a:ext cx="1752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E8B44C"/>
                </a:solidFill>
                <a:latin typeface="Georgia"/>
              </a:rPr>
              <a:t>~300 BC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Scrolls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B9C4D6"/>
                </a:solidFill>
                <a:latin typeface="Georgia"/>
              </a:rPr>
              <a:t>Papyrus and bamboo rolls carry texts across empires.</a:t>
            </a:r>
          </a:p>
        </p:txBody>
      </p:sp>
      <p:sp>
        <p:nvSpPr>
          <p:cNvPr id="12" name="Oval 11"/>
          <p:cNvSpPr/>
          <p:nvPr/>
        </p:nvSpPr>
        <p:spPr>
          <a:xfrm>
            <a:off x="5131308" y="3721608"/>
            <a:ext cx="146304" cy="146304"/>
          </a:xfrm>
          <a:prstGeom prst="ellips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8160" y="2194560"/>
            <a:ext cx="1752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E8B44C"/>
                </a:solidFill>
                <a:latin typeface="Georgia"/>
              </a:rPr>
              <a:t>1st c. AD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The codex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B9C4D6"/>
                </a:solidFill>
                <a:latin typeface="Georgia"/>
              </a:rPr>
              <a:t>Folded pages replace scrolls; the modern book is born.</a:t>
            </a:r>
          </a:p>
        </p:txBody>
      </p:sp>
      <p:sp>
        <p:nvSpPr>
          <p:cNvPr id="14" name="Oval 13"/>
          <p:cNvSpPr/>
          <p:nvPr/>
        </p:nvSpPr>
        <p:spPr>
          <a:xfrm>
            <a:off x="6883908" y="3721608"/>
            <a:ext cx="146304" cy="146304"/>
          </a:xfrm>
          <a:prstGeom prst="ellips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4114800"/>
            <a:ext cx="1752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E8B44C"/>
                </a:solidFill>
                <a:latin typeface="Georgia"/>
              </a:rPr>
              <a:t>1455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Gutenberg press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B9C4D6"/>
                </a:solidFill>
                <a:latin typeface="Georgia"/>
              </a:rPr>
              <a:t>Movable type makes books affordable — ideas go viral.</a:t>
            </a:r>
          </a:p>
        </p:txBody>
      </p:sp>
      <p:sp>
        <p:nvSpPr>
          <p:cNvPr id="16" name="Oval 15"/>
          <p:cNvSpPr/>
          <p:nvPr/>
        </p:nvSpPr>
        <p:spPr>
          <a:xfrm>
            <a:off x="8636508" y="3721608"/>
            <a:ext cx="146304" cy="146304"/>
          </a:xfrm>
          <a:prstGeom prst="ellips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33360" y="2194560"/>
            <a:ext cx="1752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E8B44C"/>
                </a:solidFill>
                <a:latin typeface="Georgia"/>
              </a:rPr>
              <a:t>1971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First e-book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B9C4D6"/>
                </a:solidFill>
                <a:latin typeface="Georgia"/>
              </a:rPr>
              <a:t>Project Gutenberg digitizes the US Declaration of Independence.</a:t>
            </a:r>
          </a:p>
        </p:txBody>
      </p:sp>
      <p:sp>
        <p:nvSpPr>
          <p:cNvPr id="18" name="Oval 17"/>
          <p:cNvSpPr/>
          <p:nvPr/>
        </p:nvSpPr>
        <p:spPr>
          <a:xfrm>
            <a:off x="10389108" y="3721608"/>
            <a:ext cx="146304" cy="146304"/>
          </a:xfrm>
          <a:prstGeom prst="ellips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85960" y="4114800"/>
            <a:ext cx="1752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400" b="1" i="0">
                <a:solidFill>
                  <a:srgbClr val="E8B44C"/>
                </a:solidFill>
                <a:latin typeface="Georgia"/>
              </a:rPr>
              <a:t>2007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500" b="1" i="0">
                <a:solidFill>
                  <a:srgbClr val="F5F0E6"/>
                </a:solidFill>
                <a:latin typeface="Georgia"/>
              </a:rPr>
              <a:t>E-reader era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100" b="0" i="0">
                <a:solidFill>
                  <a:srgbClr val="B9C4D6"/>
                </a:solidFill>
                <a:latin typeface="Georgia"/>
              </a:rPr>
              <a:t>Kindle and tablets put a library in every pocket.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Georgia"/>
              </a:rPr>
              <a:t>CHAPTER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0E6"/>
                </a:solidFill>
                <a:latin typeface="Georgia"/>
              </a:rPr>
              <a:t>Why Reading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926080" cy="254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429000" cy="201168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5F0E6"/>
                </a:solidFill>
                <a:latin typeface="Georgia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60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Brain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26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9C4D6"/>
                </a:solidFill>
                <a:latin typeface="Georgia"/>
              </a:rPr>
              <a:t>Regular reading strengthens memory, focus, and mental flexibility — like exercise for the mind.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1920240"/>
            <a:ext cx="3429000" cy="201168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05740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5F0E6"/>
                </a:solidFill>
                <a:latin typeface="Georgia"/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560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Vocabulary &amp;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926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9C4D6"/>
                </a:solidFill>
                <a:latin typeface="Georgia"/>
              </a:rPr>
              <a:t>Readers absorb thousands of new words in context, sharpening writing and speaking skills.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1920240"/>
            <a:ext cx="3429000" cy="201168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05740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5F0E6"/>
                </a:solidFill>
                <a:latin typeface="Georgia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560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Stress Relief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926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9C4D6"/>
                </a:solidFill>
                <a:latin typeface="Georgia"/>
              </a:rPr>
              <a:t>Just 6 minutes of reading can reduce stress by up to 68% — more effective than music or walking.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06240"/>
            <a:ext cx="3429000" cy="201168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34340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5F0E6"/>
                </a:solidFill>
                <a:latin typeface="Georgia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46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Empathy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212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9C4D6"/>
                </a:solidFill>
                <a:latin typeface="Georgia"/>
              </a:rPr>
              <a:t>Fiction lets us live inside other minds, boosting emotional intelligence and understanding.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4206240"/>
            <a:ext cx="3429000" cy="201168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34340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5F0E6"/>
                </a:solidFill>
                <a:latin typeface="Georgia"/>
              </a:rPr>
              <a:t>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846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Better Sleep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5212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9C4D6"/>
                </a:solidFill>
                <a:latin typeface="Georgia"/>
              </a:rPr>
              <a:t>A paper book before bed relaxes the mind far better than a glowing screen.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66176" y="4206240"/>
            <a:ext cx="3429000" cy="201168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4343400"/>
            <a:ext cx="731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F5F0E6"/>
                </a:solidFill>
                <a:latin typeface="Georgia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48463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Longer Life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521208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9C4D6"/>
                </a:solidFill>
                <a:latin typeface="Georgia"/>
              </a:rPr>
              <a:t>A Yale study linked regular book reading to a 20% lower risk of early death.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Georgia"/>
              </a:rPr>
              <a:t>CHAPTER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0E6"/>
                </a:solidFill>
                <a:latin typeface="Georgia"/>
              </a:rPr>
              <a:t>A Map of Genres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926080" cy="254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2560320" cy="1965960"/>
          </a:xfrm>
          <a:prstGeom prst="roundRect">
            <a:avLst/>
          </a:prstGeom>
          <a:solidFill>
            <a:srgbClr val="2E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Fiction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Novels, short stories, and literary worlds built from pure imagination.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38728" y="1965960"/>
            <a:ext cx="2560320" cy="196596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8728" y="196596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213055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Mystery &amp; Thriller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7432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Puzzles, secrets, and suspense that keep pages turning all night.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965960"/>
            <a:ext cx="2560320" cy="1965960"/>
          </a:xfrm>
          <a:prstGeom prst="roundRect">
            <a:avLst/>
          </a:prstGeom>
          <a:solidFill>
            <a:srgbClr val="2E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96596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13055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Fantasy &amp; Sci-Fi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7432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Magic systems, distant galaxies, and 'what if?' taken to the limit.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965960"/>
            <a:ext cx="2560320" cy="196596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196596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213055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Non-Fiction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4" y="274320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History, biography, science — the real world, well told.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60520"/>
            <a:ext cx="2560320" cy="1965960"/>
          </a:xfrm>
          <a:prstGeom prst="roundRect">
            <a:avLst/>
          </a:prstGeom>
          <a:solidFill>
            <a:srgbClr val="2E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16052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2511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Romance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Love stories that have topped bestseller lists for centuries.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38728" y="4160520"/>
            <a:ext cx="2560320" cy="196596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38728" y="416052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21608" y="432511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Poetry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21608" y="493776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Language distilled — emotion and imagery in concentrated form.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4160520"/>
            <a:ext cx="2560320" cy="1965960"/>
          </a:xfrm>
          <a:prstGeom prst="roundRect">
            <a:avLst/>
          </a:prstGeom>
          <a:solidFill>
            <a:srgbClr val="2E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54496" y="416052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32511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Self-Help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93776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Practical wisdom for habits, careers, and personal growth.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0264" y="4160520"/>
            <a:ext cx="2560320" cy="196596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70264" y="4160520"/>
            <a:ext cx="2560320" cy="381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53144" y="4325112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F0E6"/>
                </a:solidFill>
                <a:latin typeface="Georgia"/>
              </a:rPr>
              <a:t>Children's Books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493776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B9C4D6"/>
                </a:solidFill>
                <a:latin typeface="Georgia"/>
              </a:rPr>
              <a:t>Where every lifelong reader takes their first steps.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Georgia"/>
              </a:rPr>
              <a:t>CHAPTER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0E6"/>
                </a:solidFill>
                <a:latin typeface="Georgia"/>
              </a:rPr>
              <a:t>The Anatomy of a 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926080" cy="254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06040" y="2468880"/>
            <a:ext cx="4023360" cy="2651760"/>
          </a:xfrm>
          <a:prstGeom prst="roundRect">
            <a:avLst/>
          </a:prstGeom>
          <a:solidFill>
            <a:srgbClr val="F5F0E6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7440" y="2331720"/>
            <a:ext cx="4251960" cy="2926080"/>
          </a:xfrm>
          <a:prstGeom prst="round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2331720"/>
            <a:ext cx="457200" cy="2926080"/>
          </a:xfrm>
          <a:prstGeom prst="roundRect">
            <a:avLst/>
          </a:prstGeom>
          <a:solidFill>
            <a:srgbClr val="2E3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60" y="2606040"/>
            <a:ext cx="73152" cy="265176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32888" y="2606040"/>
            <a:ext cx="73152" cy="265176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10896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1B263B"/>
                </a:solidFill>
                <a:latin typeface="Georgia"/>
              </a:rPr>
              <a:t>THE WORLD</a:t>
            </a:r>
          </a:p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1B263B"/>
                </a:solidFill>
                <a:latin typeface="Georgia"/>
              </a:rPr>
              <a:t>OF 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0690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2E3F5F"/>
                </a:solidFill>
                <a:latin typeface="Georgia"/>
              </a:rPr>
              <a:t>· A PRESENTATION ·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212080" y="2377440"/>
            <a:ext cx="2103120" cy="1371600"/>
          </a:xfrm>
          <a:prstGeom prst="line">
            <a:avLst/>
          </a:prstGeom>
          <a:ln w="12700">
            <a:solidFill>
              <a:srgbClr val="E8B4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24928" y="224942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0E6"/>
                </a:solidFill>
                <a:latin typeface="Georgia"/>
              </a:rPr>
              <a:t>Front Cover — first impression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06040" y="3566160"/>
            <a:ext cx="4709160" cy="1097280"/>
          </a:xfrm>
          <a:prstGeom prst="line">
            <a:avLst/>
          </a:prstGeom>
          <a:ln w="12700">
            <a:solidFill>
              <a:srgbClr val="E8B4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24928" y="343814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0E6"/>
                </a:solidFill>
                <a:latin typeface="Georgia"/>
              </a:rPr>
              <a:t>Spine — holds it all together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35040" y="4754880"/>
            <a:ext cx="1280160" cy="640080"/>
          </a:xfrm>
          <a:prstGeom prst="line">
            <a:avLst/>
          </a:prstGeom>
          <a:ln w="12700">
            <a:solidFill>
              <a:srgbClr val="E8B4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24928" y="462686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0E6"/>
                </a:solidFill>
                <a:latin typeface="Georgia"/>
              </a:rPr>
              <a:t>Pages — where the story lives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754880" y="1188720"/>
            <a:ext cx="2560320" cy="2103120"/>
          </a:xfrm>
          <a:prstGeom prst="line">
            <a:avLst/>
          </a:prstGeom>
          <a:ln w="12700">
            <a:solidFill>
              <a:srgbClr val="E8B4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24928" y="106070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5F0E6"/>
                </a:solidFill>
                <a:latin typeface="Georgia"/>
              </a:rPr>
              <a:t>Title — promise of the 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9C4D6"/>
                </a:solidFill>
                <a:latin typeface="Georgia"/>
              </a:rPr>
              <a:t>Every physical detail of a book — cover, spine, typography — is designed to invite the reader 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Georgia"/>
              </a:rPr>
              <a:t>CHAPTER FIVE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0E6"/>
                </a:solidFill>
                <a:latin typeface="Georgia"/>
              </a:rPr>
              <a:t>Print vs.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926080" cy="254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5120640" cy="393192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5352" y="1920240"/>
            <a:ext cx="5120640" cy="3931920"/>
          </a:xfrm>
          <a:prstGeom prst="roundRect">
            <a:avLst/>
          </a:prstGeom>
          <a:solidFill>
            <a:srgbClr val="24324D"/>
          </a:solidFill>
          <a:ln w="1270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0E6"/>
                </a:solidFill>
                <a:latin typeface="Georgia"/>
              </a:rPr>
              <a:t>The Print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148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5F0E6"/>
                </a:solidFill>
                <a:latin typeface="Georgia"/>
              </a:rPr>
              <a:t>The E-Book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Tactile — the feel, smell, and weight of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021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No battery, no glare — readable anywhere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1538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Easy to annotate, lend, and shelve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286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Still ~2/3 of all books sold worldwide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78892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A whole library in your pocket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5021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Adjustable fonts, instant dictionary, night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21538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Cheaper and instant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92861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8B44C"/>
                </a:solidFill>
                <a:latin typeface="Georgia"/>
              </a:rPr>
              <a:t>✦ </a:t>
            </a:r>
            <a:r>
              <a:rPr sz="1350" b="0" i="0">
                <a:solidFill>
                  <a:srgbClr val="B9C4D6"/>
                </a:solidFill>
                <a:latin typeface="Georgia"/>
              </a:rPr>
              <a:t>Searchable and syncs across all devices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F5F0E6"/>
                </a:solidFill>
                <a:latin typeface="Georgia"/>
              </a:rPr>
              <a:t>The good news for readers: you never have to choose just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B44C"/>
                </a:solidFill>
                <a:latin typeface="Georgia"/>
              </a:rPr>
              <a:t>CHAPTER SIX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5F0E6"/>
                </a:solidFill>
                <a:latin typeface="Georgia"/>
              </a:rPr>
              <a:t>Fun Facts About 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926080" cy="254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65960"/>
            <a:ext cx="5138928" cy="132588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73152" cy="132588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636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The longest novel ever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B9C4D6"/>
                </a:solidFill>
                <a:latin typeface="Georgia"/>
              </a:rPr>
              <a:t>In Search of Lost Time by Marcel Proust — roughly 1.2 million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138928" cy="132588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73152" cy="132588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636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The most translated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B9C4D6"/>
                </a:solidFill>
                <a:latin typeface="Georgia"/>
              </a:rPr>
              <a:t>The Bible, rendered into over 3,500 languages.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20440"/>
            <a:ext cx="5138928" cy="132588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520440"/>
            <a:ext cx="73152" cy="132588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4636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The world's best-selling 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B9C4D6"/>
                </a:solidFill>
                <a:latin typeface="Georgia"/>
              </a:rPr>
              <a:t>Don Quixote, with an estimated 500 million copies sold.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20440"/>
            <a:ext cx="5138928" cy="132588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73152" cy="132588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4636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The first printed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B9C4D6"/>
                </a:solidFill>
                <a:latin typeface="Georgia"/>
              </a:rPr>
              <a:t>The Gutenberg Bible, 1455 — about 180 copies were made.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138928" cy="132588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5074920"/>
            <a:ext cx="73152" cy="132588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212080"/>
            <a:ext cx="4636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Bibliosmia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623560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B9C4D6"/>
                </a:solidFill>
                <a:latin typeface="Georgia"/>
              </a:rPr>
              <a:t>The word for the smell of old books — caused by slowly decaying paper.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074920"/>
            <a:ext cx="5138928" cy="1325880"/>
          </a:xfrm>
          <a:prstGeom prst="roundRect">
            <a:avLst/>
          </a:prstGeom>
          <a:solidFill>
            <a:srgbClr val="24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5074920"/>
            <a:ext cx="73152" cy="132588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212080"/>
            <a:ext cx="4636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B44C"/>
                </a:solidFill>
                <a:latin typeface="Georgia"/>
              </a:rPr>
              <a:t>Iceland's book flood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623560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B9C4D6"/>
                </a:solidFill>
                <a:latin typeface="Georgia"/>
              </a:rPr>
              <a:t>Jólabókaflóð: Icelanders give books as gifts on Christmas Eve and read all night.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480000">
            <a:off x="3300984" y="4174237"/>
            <a:ext cx="2798064" cy="1892807"/>
          </a:xfrm>
          <a:prstGeom prst="roundRect">
            <a:avLst/>
          </a:prstGeom>
          <a:solidFill>
            <a:srgbClr val="24324D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21120000">
            <a:off x="6099048" y="4174237"/>
            <a:ext cx="2798064" cy="1892807"/>
          </a:xfrm>
          <a:prstGeom prst="roundRect">
            <a:avLst/>
          </a:prstGeom>
          <a:solidFill>
            <a:srgbClr val="24324D"/>
          </a:solidFill>
          <a:ln w="19050">
            <a:solidFill>
              <a:srgbClr val="E8B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89020" y="4647438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28232" y="4647438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89020" y="4931359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28232" y="4931359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9020" y="5215280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28232" y="5215280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89020" y="5499201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2" y="5499201"/>
            <a:ext cx="2180844" cy="25400"/>
          </a:xfrm>
          <a:prstGeom prst="rect">
            <a:avLst/>
          </a:prstGeom>
          <a:solidFill>
            <a:srgbClr val="B9C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24982" y="4256533"/>
            <a:ext cx="148132" cy="905256"/>
          </a:xfrm>
          <a:prstGeom prst="rect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6024982" y="5079493"/>
            <a:ext cx="148132" cy="131673"/>
          </a:xfrm>
          <a:prstGeom prst="triangle">
            <a:avLst/>
          </a:prstGeom>
          <a:solidFill>
            <a:srgbClr val="E8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554480"/>
            <a:ext cx="9418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F5F0E6"/>
                </a:solidFill>
                <a:latin typeface="Georgia"/>
              </a:rPr>
              <a:t>“I have always imagined that Paradise</a:t>
            </a:r>
          </a:p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E8B44C"/>
                </a:solidFill>
                <a:latin typeface="Georgia"/>
              </a:rPr>
              <a:t>will be a kind of library.”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B9C4D6"/>
                </a:solidFill>
                <a:latin typeface="Georgia"/>
              </a:rPr>
              <a:t>— Jorge Luis Borges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5F0E6"/>
                </a:solidFill>
                <a:latin typeface="Georgia"/>
              </a:rPr>
              <a:t>Thank you — now go read something wonderful.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640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1">
                <a:solidFill>
                  <a:srgbClr val="B9C4D6"/>
                </a:solidFill>
                <a:latin typeface="Georgia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